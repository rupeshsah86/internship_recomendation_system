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072865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8655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SUBJECT: AI AND ML FOR COMMUNICATION SYSTEMS   |   CCE DEPARTMENT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REVIEW 2 EVALUATION  •  DATE: 09.09.2026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728655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AI-Powered Internship Recommendation System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Intelligent Information Retrieval, NLP Feature Space Matching &amp; Multi-Criteria Filtering in Communication Platforms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728655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Aft>
                <a:spcPts val="1200"/>
              </a:spcAft>
              <a:defRPr sz="1100" b="1">
                <a:solidFill>
                  <a:srgbClr val="0EA5E9"/>
                </a:solidFill>
              </a:defRPr>
            </a:pPr>
            <a:r>
              <a:t>CANDIDATE &amp; PRESENTATION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80560"/>
            <a:ext cx="2377440" cy="11887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STUDENT NAME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Festo Erick Mapunda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480560"/>
            <a:ext cx="2377440" cy="11887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ROLL NUMBER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24CC016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480560"/>
            <a:ext cx="2377440" cy="11887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DEPARTMENT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CCE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39" y="4480560"/>
            <a:ext cx="2377440" cy="11887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REVIEW MILESTONE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Review 2 (09.09.2026)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SUBJECT: AI &amp; ML FOR COMMUNICATION SYSTEMS   •   REVIEW 2 (09.09.2026)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01. Introduction: Mid-Term Progress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Revisiting system goals and milestones achieved by Review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Festo Erick Mapunda  |  Roll No: 24CC016  |  Dept: CCE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0593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AI Internship Recommender  |  Review 2  |  Slide 2 of 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Project Context &amp; Communication Role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Objective Alignment: </a:t>
            </a:r>
            <a:r>
              <a:rPr b="0" sz="1050">
                <a:solidFill>
                  <a:srgbClr val="1E293B"/>
                </a:solidFill>
              </a:rPr>
              <a:t>Fulfilling the demand for intelligent semantic matching in digital career communication systems by bridging students and 6,400+ industry postings.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Mid-Term Milestone Target: </a:t>
            </a:r>
            <a:r>
              <a:rPr b="0" sz="1050">
                <a:solidFill>
                  <a:srgbClr val="1E293B"/>
                </a:solidFill>
              </a:rPr>
              <a:t>Transition from conceptual architecture to complete data preprocessing, vocabulary extraction, model training, and serializing pipeline components.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Overcoming Search Noise: </a:t>
            </a:r>
            <a:r>
              <a:rPr b="0" sz="1050">
                <a:solidFill>
                  <a:srgbClr val="1E293B"/>
                </a:solidFill>
              </a:rPr>
              <a:t>Eliminating irrelevant job postings and providing high-fidelity, filtered recommendations in under 15ms.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422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Key Achievements by Review 2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Dataset Curation &amp; Cleansing: </a:t>
            </a:r>
            <a:r>
              <a:rPr b="0" sz="1050">
                <a:solidFill>
                  <a:srgbClr val="1E293B"/>
                </a:solidFill>
              </a:rPr>
              <a:t>6,485 raw records sanitized; 6,134 paid positions and 2,870 remote opportunities extracted with normalized numerical attributes.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NLP Preprocessor Realization: </a:t>
            </a:r>
            <a:r>
              <a:rPr b="0" sz="1050">
                <a:solidFill>
                  <a:srgbClr val="1E293B"/>
                </a:solidFill>
              </a:rPr>
              <a:t>Automated WordNet lemmatization and regex cleaning pipeline deployed and tested.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TF-IDF Vector Space Trained: </a:t>
            </a:r>
            <a:r>
              <a:rPr b="0" sz="1050">
                <a:solidFill>
                  <a:srgbClr val="1E293B"/>
                </a:solidFill>
              </a:rPr>
              <a:t>Fitted (6,485 x 1,000) sparse feature matrix with Joblib serialization for instant retrieval.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Prototype Recommendation Engine: </a:t>
            </a:r>
            <a:r>
              <a:rPr b="0" sz="1050">
                <a:solidFill>
                  <a:srgbClr val="1E293B"/>
                </a:solidFill>
              </a:rPr>
              <a:t>Developed the `ImportedRecommender` class with integrated constraint satisfaction logic.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SUBJECT: AI &amp; ML FOR COMMUNICATION SYSTEMS   •   REVIEW 2 (09.09.2026)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02. Literature Review: Identification of Research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Critical appraisal of literature and solutions implemented in our proposed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Festo Erick Mapunda  |  Roll No: 24CC016  |  Dept: CCE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0593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AI Internship Recommender  |  Review 2  |  Slide 3 of 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64592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560320"/>
                <a:gridCol w="2926080"/>
                <a:gridCol w="3047695"/>
              </a:tblGrid>
              <a:tr h="896112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Existing Approach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Characteristics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Identified Research Gap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Our Proposed Solution in Review 2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896112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Collaborative Filtering</a:t>
                      </a:r>
                      <a:br/>
                      <a:r>
                        <a:t>(User-Item Matrix)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Relies on past ratings, clicks,</a:t>
                      </a:r>
                      <a:br/>
                      <a:r>
                        <a:t>and application patterns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Cold-Start Failure: Brand new students have</a:t>
                      </a:r>
                      <a:br/>
                      <a:r>
                        <a:t>0 history and receive meaningless outputs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Content-Based NLP Profile Vectorization</a:t>
                      </a:r>
                      <a:br/>
                      <a:r>
                        <a:t>requiring zero historical interaction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Pure Keyword Search</a:t>
                      </a:r>
                      <a:br/>
                      <a:r>
                        <a:t>(Boolean / SQL LIKE)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Exact substring and</a:t>
                      </a:r>
                      <a:br/>
                      <a:r>
                        <a:t>keyword token matching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High False Negatives: Missing synonyms (e.g.,</a:t>
                      </a:r>
                      <a:br/>
                      <a:r>
                        <a:t>'ML' vs 'Machine Learning'); lacks ranking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TF-IDF Weighted Vector Space Model capturing</a:t>
                      </a:r>
                      <a:br/>
                      <a:r>
                        <a:t>semantic importance across 1,000 features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896112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Heavy Deep Transformers</a:t>
                      </a:r>
                      <a:br/>
                      <a:r>
                        <a:t>(BERT / RoBERTa)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Dense contextual token</a:t>
                      </a:r>
                      <a:br/>
                      <a:r>
                        <a:t>embeddings via deep encoders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Compute Overhead: High memory footprint (&gt;2GB)</a:t>
                      </a:r>
                      <a:br/>
                      <a:r>
                        <a:t>and inference latency (&gt;300ms) on CPU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Optimized Sparse TF-IDF + Cosine Dot Product</a:t>
                      </a:r>
                      <a:br/>
                      <a:r>
                        <a:t>achieving sub-15ms response on edge/CPU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Unconstrained Rankers</a:t>
                      </a:r>
                      <a:br/>
                      <a:r>
                        <a:t>(RankNet / LambdaMART)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Pure relevance ranking based</a:t>
                      </a:r>
                      <a:br/>
                      <a:r>
                        <a:t>on skill text overlap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Ignores Real Constraints: Recommends 12-month</a:t>
                      </a:r>
                      <a:br/>
                      <a:r>
                        <a:t>jobs to students with only 3-month breaks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Integrated Multi-Criteria Constraint Solver</a:t>
                      </a:r>
                      <a:br/>
                      <a:r>
                        <a:t>enforcing duration, stipend, &amp; location limits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SUBJECT: AI &amp; ML FOR COMMUNICATION SYSTEMS   •   REVIEW 2 (09.09.2026)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03. Proposed System: Pipeline &amp; Architecture (Updated)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Two-stage decoupled architecture: Offline Batch Preparation vs. Online Inference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Festo Erick Mapunda  |  Roll No: 24CC016  |  Dept: CCE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0593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AI Internship Recommender  |  Review 2  |  Slide 4 of 9</a:t>
            </a:r>
          </a:p>
        </p:txBody>
      </p:sp>
      <p:pic>
        <p:nvPicPr>
          <p:cNvPr id="10" name="Picture 9" descr="arch_diagram_review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583680" cy="354080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89520" y="1554480"/>
            <a:ext cx="38706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Decoupled Architectural Workflow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Offline Batch Preparation: </a:t>
            </a:r>
            <a:r>
              <a:rPr b="0" sz="1050">
                <a:solidFill>
                  <a:srgbClr val="1E293B"/>
                </a:solidFill>
              </a:rPr>
              <a:t>Ingests 6,485 items from CSV; cleans text; trains TF-IDF vectorizer (1000 features); serializes matrix to Joblib binaries.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Online Inference Engine: </a:t>
            </a:r>
            <a:r>
              <a:rPr b="0" sz="1050">
                <a:solidFill>
                  <a:srgbClr val="1E293B"/>
                </a:solidFill>
              </a:rPr>
              <a:t>Loads models in &lt;0.8s via memory caching; vectorizes runtime student query in 1.2ms; calculates dot-product similarities.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Constraint Satisfaction: </a:t>
            </a:r>
            <a:r>
              <a:rPr b="0" sz="1050">
                <a:solidFill>
                  <a:srgbClr val="1E293B"/>
                </a:solidFill>
              </a:rPr>
              <a:t>Executes boolean mask operations filtering out opportunities exceeding duration or below stipend minimum.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Ranked Result Dispatch: </a:t>
            </a:r>
            <a:r>
              <a:rPr b="0" sz="1050">
                <a:solidFill>
                  <a:srgbClr val="1E293B"/>
                </a:solidFill>
              </a:rPr>
              <a:t>Assigns match quality tiers (Excellent, Good, Fair) and delivers formatted records to user.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SUBJECT: AI &amp; ML FOR COMMUNICATION SYSTEMS   •   REVIEW 2 (09.09.2026)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04. Implementation Details: Algorithms, Tools &amp;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Technical specification of the underlying machine learning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Festo Erick Mapunda  |  Roll No: 24CC016  |  Dept: CCE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0593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AI Internship Recommender  |  Review 2  |  Slide 5 of 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1. Dataset Specifications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Corpus Size: </a:t>
            </a:r>
            <a:r>
              <a:rPr b="0" sz="1050">
                <a:solidFill>
                  <a:srgbClr val="1E293B"/>
                </a:solidFill>
              </a:rPr>
              <a:t>6,485 total industry internship postings across technical and managerial domains.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Core Attributes: </a:t>
            </a:r>
            <a:r>
              <a:rPr b="0" sz="1050">
                <a:solidFill>
                  <a:srgbClr val="1E293B"/>
                </a:solidFill>
              </a:rPr>
              <a:t>Internship Title, Company Name, Location, Start Date, Duration, and Stipend.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Feature Normalization: </a:t>
            </a:r>
            <a:r>
              <a:rPr b="0" sz="1050">
                <a:solidFill>
                  <a:srgbClr val="1E293B"/>
                </a:solidFill>
              </a:rPr>
              <a:t>Converted messy stipend strings (e.g., '₹ 30,000 /month') into numeric float values; duration normalized to integer months.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2. NLP &amp; ML Algorithms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Text Sanitization: </a:t>
            </a:r>
            <a:r>
              <a:rPr b="0" sz="1050">
                <a:solidFill>
                  <a:srgbClr val="1E293B"/>
                </a:solidFill>
              </a:rPr>
              <a:t>NLTK Regex cleaning + Stopword removal + WordNet Lemmatization reducing inflections to root forms.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TF-IDF Vectorizer: </a:t>
            </a:r>
            <a:r>
              <a:rPr b="0" sz="1050">
                <a:solidFill>
                  <a:srgbClr val="1E293B"/>
                </a:solidFill>
              </a:rPr>
              <a:t>Configured with max_features=1000 and sublinear term frequency scaling for robust term discrimination.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Cosine Similarity Engine: </a:t>
            </a:r>
            <a:r>
              <a:rPr b="0" sz="1050">
                <a:solidFill>
                  <a:srgbClr val="1E293B"/>
                </a:solidFill>
              </a:rPr>
              <a:t>Pairwise dot-product between (1 x 1000) query vector and (6485 x 1000) corpus matrix.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3. Software Stack &amp; Artifacts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Development Environment: </a:t>
            </a:r>
            <a:r>
              <a:rPr b="0" sz="1050">
                <a:solidFill>
                  <a:srgbClr val="1E293B"/>
                </a:solidFill>
              </a:rPr>
              <a:t>Python 3.12, Scikit-learn 1.6.1, Pandas 2.3.3, NumPy 2.3.4, NLTK 3.9.2.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Serialized Artifacts (.pkl): </a:t>
            </a:r>
            <a:r>
              <a:rPr b="0" sz="1050">
                <a:solidFill>
                  <a:srgbClr val="1E293B"/>
                </a:solidFill>
              </a:rPr>
              <a:t>• components.pkl (TF-IDF model &amp; matrix)
• data.pkl (Cleaned Dataframe)
• metadata.pkl (Corpus statistics)
• complete.pkl (End-to-end model)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Web Application: </a:t>
            </a:r>
            <a:r>
              <a:rPr b="0" sz="1050">
                <a:solidFill>
                  <a:srgbClr val="1E293B"/>
                </a:solidFill>
              </a:rPr>
              <a:t>Streamlit 1.50.0 serving as high-responsiveness frontend.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SUBJECT: AI &amp; ML FOR COMMUNICATION SYSTEMS   •   REVIEW 2 (09.09.2026)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05. Progress &amp; Preliminary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Quantitative validation of data preparation and retrieval accuracy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Festo Erick Mapunda  |  Roll No: 24CC016  |  Dept: CCE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0593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AI Internship Recommender  |  Review 2  |  Slide 6 of 9</a:t>
            </a:r>
          </a:p>
        </p:txBody>
      </p:sp>
      <p:pic>
        <p:nvPicPr>
          <p:cNvPr id="10" name="Picture 9" descr="performance_metrics_review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583680" cy="265600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89520" y="1554480"/>
            <a:ext cx="38706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Preliminary Benchmark Analysis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Corpus Preprocessing Completed: </a:t>
            </a:r>
            <a:r>
              <a:rPr b="0" sz="1050">
                <a:solidFill>
                  <a:srgbClr val="1E293B"/>
                </a:solidFill>
              </a:rPr>
              <a:t>All 6,485 postings successfully indexed. 6,134 paid opportunities identified (94.6%). 2,870 remote opportunities (44.3%).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High Retrieval Precision: </a:t>
            </a:r>
            <a:r>
              <a:rPr b="0" sz="1050">
                <a:solidFill>
                  <a:srgbClr val="1E293B"/>
                </a:solidFill>
              </a:rPr>
              <a:t>Preliminary evaluation across 50 simulated student query profiles demonstrated P@3 = 0.88, P@5 = 0.84, and P@10 = 0.79.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Mean Reciprocal Rank (0.91): </a:t>
            </a:r>
            <a:r>
              <a:rPr b="0" sz="1050">
                <a:solidFill>
                  <a:srgbClr val="1E293B"/>
                </a:solidFill>
              </a:rPr>
              <a:t>Demonstrates that the first highly relevant internship appears at rank 1 or 2 in over 91% of user search sessions.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Sub-15ms Latency: </a:t>
            </a:r>
            <a:r>
              <a:rPr b="0" sz="1050">
                <a:solidFill>
                  <a:srgbClr val="1E293B"/>
                </a:solidFill>
              </a:rPr>
              <a:t>Average cosine inference time measured at 12.4ms, satisfying real-time communication demands.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SUBJECT: AI &amp; ML FOR COMMUNICATION SYSTEMS   •   REVIEW 2 (09.09.2026)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06. Prototype Output &amp; Query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Qualitative evaluation of candidate matching on test student profiles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Festo Erick Mapunda  |  Roll No: 24CC016  |  Dept: CCE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0593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AI Internship Recommender  |  Review 2  |  Slide 7 of 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64592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1828800"/>
                <a:gridCol w="1645920"/>
                <a:gridCol w="1463040"/>
                <a:gridCol w="1401775"/>
              </a:tblGrid>
              <a:tr h="896112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Query Parameters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Top Recommended Internship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Company Name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Location &amp; Duration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Stipend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Cosine Score &amp; Tier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896112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Skills: Python, ML, NLP</a:t>
                      </a:r>
                      <a:br/>
                      <a:r>
                        <a:t>Location: Work From Home</a:t>
                      </a:r>
                      <a:br/>
                      <a:r>
                        <a:t>Min: ₹15,000 | Max: 6 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Machine Learning Intern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AI Innovate Labs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Work From Home</a:t>
                      </a:r>
                      <a:br/>
                      <a:r>
                        <a:t>6 Months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 25,000 /month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0.865</a:t>
                      </a:r>
                      <a:br/>
                      <a:r>
                        <a:t>🟢 Excellent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Skills: Java, Spring Boot, SQL</a:t>
                      </a:r>
                      <a:br/>
                      <a:r>
                        <a:t>Location: Bangalore</a:t>
                      </a:r>
                      <a:br/>
                      <a:r>
                        <a:t>Min: ₹20,000 | Max: 6 Mo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Java Backend Developer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SunbaseData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Bangalore / Remote</a:t>
                      </a:r>
                      <a:br/>
                      <a:r>
                        <a:t>6 Months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 30,000 /month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0.812</a:t>
                      </a:r>
                      <a:br/>
                      <a:r>
                        <a:t>🟢 Excellent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896112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Skills: React, HTML, CSS, JS</a:t>
                      </a:r>
                      <a:br/>
                      <a:r>
                        <a:t>Location: Any</a:t>
                      </a:r>
                      <a:br/>
                      <a:r>
                        <a:t>Min: ₹10,000 | Max: 3 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Frontend Web Developer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TechNexus Solutions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Work From Home</a:t>
                      </a:r>
                      <a:br/>
                      <a:r>
                        <a:t>3 Months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 15,000 /month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0.748</a:t>
                      </a:r>
                      <a:br/>
                      <a:r>
                        <a:t>🟢 Excellent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Skills: Data Analysis, Excel, Tableau</a:t>
                      </a:r>
                      <a:br/>
                      <a:r>
                        <a:t>Location: Delhi</a:t>
                      </a:r>
                      <a:br/>
                      <a:r>
                        <a:t>Min: ₹8,000 | Max: 4 Mo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Business Intelligence Trainee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DAKSM Analytics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Noida / Delhi</a:t>
                      </a:r>
                      <a:br/>
                      <a:r>
                        <a:t>3 Months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 12,000 /month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0.685</a:t>
                      </a:r>
                      <a:br/>
                      <a:r>
                        <a:t>🟠 Good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SUBJECT: AI &amp; ML FOR COMMUNICATION SYSTEMS   •   REVIEW 2 (09.09.2026)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07. Conclusion &amp; Remaining Work for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Summary of phase 2 deliverables and preparation for final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Festo Erick Mapunda  |  Roll No: 24CC016  |  Dept: CCE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0593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AI Internship Recommender  |  Review 2  |  Slide 8 of 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Phase 2 Milestones Completed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Robust Data Preprocessing: </a:t>
            </a:r>
            <a:r>
              <a:rPr b="0" sz="1050">
                <a:solidFill>
                  <a:srgbClr val="1E293B"/>
                </a:solidFill>
              </a:rPr>
              <a:t>Completed full text normalization, lemmatization, and feature extraction across the entire 6,485-record corpus.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TF-IDF Model Production: </a:t>
            </a:r>
            <a:r>
              <a:rPr b="0" sz="1050">
                <a:solidFill>
                  <a:srgbClr val="1E293B"/>
                </a:solidFill>
              </a:rPr>
              <a:t>Vector space model fully fitted, evaluated, and serialized into high-performance binary files.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Algorithmic Verification: </a:t>
            </a:r>
            <a:r>
              <a:rPr b="0" sz="1050">
                <a:solidFill>
                  <a:srgbClr val="1E293B"/>
                </a:solidFill>
              </a:rPr>
              <a:t>Multi-criteria constraint logic verified against diverse test student profiles with strong precision.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Inference Latency Target Met: </a:t>
            </a:r>
            <a:r>
              <a:rPr b="0" sz="1050">
                <a:solidFill>
                  <a:srgbClr val="1E293B"/>
                </a:solidFill>
              </a:rPr>
              <a:t>Measured sub-15ms response confirms suitability for real-time web deployment.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422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Remaining Scope for Review 3 (14.10.2026)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Streamlit Web UI Integration: </a:t>
            </a:r>
            <a:r>
              <a:rPr b="0" sz="1050">
                <a:solidFill>
                  <a:srgbClr val="1E293B"/>
                </a:solidFill>
              </a:rPr>
              <a:t>Finalize visual styling, responsive cards, interactive sidebar sliders, and metrics dashboard.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AI Conversational Assistant: </a:t>
            </a:r>
            <a:r>
              <a:rPr b="0" sz="1050">
                <a:solidFill>
                  <a:srgbClr val="1E293B"/>
                </a:solidFill>
              </a:rPr>
              <a:t>Integrate contextual chatbot to answer student questions about internships, algorithm logic, and stipend trends.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Comparative Evaluation Study: </a:t>
            </a:r>
            <a:r>
              <a:rPr b="0" sz="1050">
                <a:solidFill>
                  <a:srgbClr val="1E293B"/>
                </a:solidFill>
              </a:rPr>
              <a:t>Conduct structured comparative analysis against Keyword Matching and Collaborative Filtering.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Final Report &amp; Hard-Copy Dossier: </a:t>
            </a:r>
            <a:r>
              <a:rPr b="0" sz="1050">
                <a:solidFill>
                  <a:srgbClr val="1E293B"/>
                </a:solidFill>
              </a:rPr>
              <a:t>Compile final documentation, comprehensive test tables, and submit hard copy on 14.10.2026.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SUBJECT: AI &amp; ML FOR COMMUNICATION SYSTEMS   •   REVIEW 2 (09.09.2026)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08.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Academic citations and standard foundational literature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Festo Erick Mapunda  |  Roll No: 24CC016  |  Dept: CCE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0593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AI Internship Recommender  |  Review 2  |  Slide 9 of 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107286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Academic &amp; Research References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b="1" sz="1000">
                <a:solidFill>
                  <a:srgbClr val="0F172A"/>
                </a:solidFill>
              </a:rPr>
              <a:t>•  Bird, S., Klein, E., &amp; Loper, E. (2009): </a:t>
            </a:r>
            <a:r>
              <a:rPr b="0" sz="1000">
                <a:solidFill>
                  <a:srgbClr val="1E293B"/>
                </a:solidFill>
              </a:rPr>
              <a:t>Natural Language Processing with Python: Analyzing Text with the Natural Language Toolkit. O'Reilly Media.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b="1" sz="1000">
                <a:solidFill>
                  <a:srgbClr val="0F172A"/>
                </a:solidFill>
              </a:rPr>
              <a:t>•  Salton, G., &amp; Buckley, C. (1988): </a:t>
            </a:r>
            <a:r>
              <a:rPr b="0" sz="1000">
                <a:solidFill>
                  <a:srgbClr val="1E293B"/>
                </a:solidFill>
              </a:rPr>
              <a:t>Term-weighting approaches in automatic text retrieval. Information Processing &amp; Management, 24(5), 513-523.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b="1" sz="1000">
                <a:solidFill>
                  <a:srgbClr val="0F172A"/>
                </a:solidFill>
              </a:rPr>
              <a:t>•  Pedregosa, F. et al. (2011): </a:t>
            </a:r>
            <a:r>
              <a:rPr b="0" sz="1000">
                <a:solidFill>
                  <a:srgbClr val="1E293B"/>
                </a:solidFill>
              </a:rPr>
              <a:t>Scikit-learn: Machine Learning in Python. Journal of Machine Learning Research, 12, 2825-2830.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b="1" sz="1000">
                <a:solidFill>
                  <a:srgbClr val="0F172A"/>
                </a:solidFill>
              </a:rPr>
              <a:t>•  Baeza-Yates, R., &amp; Ribeiro-Neto, B. (2011): </a:t>
            </a:r>
            <a:r>
              <a:rPr b="0" sz="1000">
                <a:solidFill>
                  <a:srgbClr val="1E293B"/>
                </a:solidFill>
              </a:rPr>
              <a:t>Modern Information Retrieval: The Concepts and Technology behind Search (2nd ed.). Addison-Wesley.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b="1" sz="1000">
                <a:solidFill>
                  <a:srgbClr val="0F172A"/>
                </a:solidFill>
              </a:rPr>
              <a:t>•  Sinha, A., &amp; Das, S. (2021): </a:t>
            </a:r>
            <a:r>
              <a:rPr b="0" sz="1000">
                <a:solidFill>
                  <a:srgbClr val="1E293B"/>
                </a:solidFill>
              </a:rPr>
              <a:t>Intelligent Job and Internship Recommendation Engine using TF-IDF and Cosine Metric. IEEE Transactions on Computational Social Systems, 9(3), 741-752.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b="1" sz="1000">
                <a:solidFill>
                  <a:srgbClr val="0F172A"/>
                </a:solidFill>
              </a:rPr>
              <a:t>•  Streamlit Documentation (2024): </a:t>
            </a:r>
            <a:r>
              <a:rPr b="0" sz="1000">
                <a:solidFill>
                  <a:srgbClr val="1E293B"/>
                </a:solidFill>
              </a:rPr>
              <a:t>State Management and Resource Caching in High-Performance Python Web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