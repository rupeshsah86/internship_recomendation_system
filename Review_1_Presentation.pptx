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72865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865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SUBJECT: AI AND ML FOR COMMUNICATION SYSTEMS   |   CCE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REVIEW 1 EVALUATION  •  DATE: 21.07.2026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AI-Powered Internship Recommendation System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Intelligent Information Retrieval, NLP Feature Space Matching &amp; Multi-Criteria Filtering in Communication Platforms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200"/>
              </a:spcAft>
              <a:defRPr sz="1100" b="1">
                <a:solidFill>
                  <a:srgbClr val="0EA5E9"/>
                </a:solidFill>
              </a:defRPr>
            </a:pPr>
            <a:r>
              <a:t>CANDIDATE &amp; PRESENTATION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237744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STUDENT NAME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Festo Erick Mapunda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480560"/>
            <a:ext cx="237744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ROLL NUMBER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24CC016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480560"/>
            <a:ext cx="237744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DEPARTMENT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39" y="4480560"/>
            <a:ext cx="237744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REVIEW MILESTONE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Review 1 (21.07.2026)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1 (21.07.2026)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01. Introduction: 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Background and relevance to AI &amp; ML in Communication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1  |  Slide 2 of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Background &amp; Context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Digital Recruitment Portals: </a:t>
            </a:r>
            <a:r>
              <a:rPr b="0" sz="1050">
                <a:solidFill>
                  <a:srgbClr val="1E293B"/>
                </a:solidFill>
              </a:rPr>
              <a:t>The exponential increase in online internship postings creates significant information overload for students seeking career entry.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Information Asymmetry: </a:t>
            </a:r>
            <a:r>
              <a:rPr b="0" sz="1050">
                <a:solidFill>
                  <a:srgbClr val="1E293B"/>
                </a:solidFill>
              </a:rPr>
              <a:t>Employers face hundreds of unqualified applicants, while qualified students fail to discover niche opportunities aligned with their skills.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Communication Challenge: </a:t>
            </a:r>
            <a:r>
              <a:rPr b="0" sz="1050">
                <a:solidFill>
                  <a:srgbClr val="1E293B"/>
                </a:solidFill>
              </a:rPr>
              <a:t>Traditional job search relies on rigid keyword matching, resulting in high communication noise and low match precision across network channels.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C2410C"/>
                </a:solidFill>
              </a:defRPr>
            </a:pPr>
            <a:r>
              <a:t>The Core Problem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Vocabulary Mismatch: </a:t>
            </a:r>
            <a:r>
              <a:rPr b="0" sz="1050">
                <a:solidFill>
                  <a:srgbClr val="1E293B"/>
                </a:solidFill>
              </a:rPr>
              <a:t>Students express proficiencies using diverse terminologies ('ML Engineer', 'Data Modeling', 'Predictive Analytics') that keyword search fails to unify.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Lack of Multi-Constraint Handling: </a:t>
            </a:r>
            <a:r>
              <a:rPr b="0" sz="1050">
                <a:solidFill>
                  <a:srgbClr val="1E293B"/>
                </a:solidFill>
              </a:rPr>
              <a:t>Standard engines ignore real-world constraints such as student availability, academic calendar durations, and minimum financial stipends.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Cold-Start Vulnerability: </a:t>
            </a:r>
            <a:r>
              <a:rPr b="0" sz="1050">
                <a:solidFill>
                  <a:srgbClr val="1E293B"/>
                </a:solidFill>
              </a:rPr>
              <a:t>Collaborative filtering fails completely for new students who have no prior application or rating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AI &amp; ML in Communication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Semantic Matching: </a:t>
            </a:r>
            <a:r>
              <a:rPr b="0" sz="1050">
                <a:solidFill>
                  <a:srgbClr val="1E293B"/>
                </a:solidFill>
              </a:rPr>
              <a:t>Treats student profiles and job postings as semantic communication channels, maximizing Mutual Information between student and recruiter.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Content-Based Intelligence: </a:t>
            </a:r>
            <a:r>
              <a:rPr b="0" sz="1050">
                <a:solidFill>
                  <a:srgbClr val="1E293B"/>
                </a:solidFill>
              </a:rPr>
              <a:t>Uses NLP tokenization, lemmatization, and TF-IDF vector spaces to project documents into comparable high-dimensional semantic spaces.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Deterministic Constraint Solver: </a:t>
            </a:r>
            <a:r>
              <a:rPr b="0" sz="1050">
                <a:solidFill>
                  <a:srgbClr val="1E293B"/>
                </a:solidFill>
              </a:rPr>
              <a:t>Combines statistical similarity with hard constraints (stipend floor, max duration, remote work options).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1 (21.07.2026)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02. Project 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Clear definition of core system deliverables and research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1  |  Slide 3 of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10728655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PRIMARY PROJECT OBJECTIVE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 Core Mission: </a:t>
            </a:r>
            <a:r>
              <a:rPr b="0" sz="1100">
                <a:solidFill>
                  <a:srgbClr val="1E293B"/>
                </a:solidFill>
              </a:rPr>
              <a:t>To design, implement, and evaluate an AI/ML-powered intelligent internship recommendation platform that processes 6,400+ industry postings, vectorizes student technical profiles, and executes sub-20ms multi-criteria cosine matching.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NLP Feature Engineering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Text Preprocessing: </a:t>
            </a:r>
            <a:r>
              <a:rPr b="0" sz="1050">
                <a:solidFill>
                  <a:srgbClr val="1E293B"/>
                </a:solidFill>
              </a:rPr>
              <a:t>Sanitize unstructured text through regex symbol filtering, English stopword elimination, and WordNet lemmatization.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TF-IDF Vector Space: </a:t>
            </a:r>
            <a:r>
              <a:rPr b="0" sz="1050">
                <a:solidFill>
                  <a:srgbClr val="1E293B"/>
                </a:solidFill>
              </a:rPr>
              <a:t>Construct a vocabulary of 1,000 discriminative features to represent internship requirements and candidate profiles.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83464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Similarity &amp; Constraints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Cosine Metric Computation: </a:t>
            </a:r>
            <a:r>
              <a:rPr b="0" sz="1050">
                <a:solidFill>
                  <a:srgbClr val="1E293B"/>
                </a:solidFill>
              </a:rPr>
              <a:t>Compute multi-dimensional angular similarity between student query vectors and the indexed opportunity corpus.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Constraint Satisfaction: </a:t>
            </a:r>
            <a:r>
              <a:rPr b="0" sz="1050">
                <a:solidFill>
                  <a:srgbClr val="1E293B"/>
                </a:solidFill>
              </a:rPr>
              <a:t>Filter ranked candidates dynamically against student stipend minimums, duration bounds, and location preferences.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83464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Interface &amp; Validation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Interactive Web Application: </a:t>
            </a:r>
            <a:r>
              <a:rPr b="0" sz="1050">
                <a:solidFill>
                  <a:srgbClr val="1E293B"/>
                </a:solidFill>
              </a:rPr>
              <a:t>Deploy a responsive, accessible Streamlit web application providing real-time recommendations and transparent match scores.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Performance Benchmarking: </a:t>
            </a:r>
            <a:r>
              <a:rPr b="0" sz="1050">
                <a:solidFill>
                  <a:srgbClr val="1E293B"/>
                </a:solidFill>
              </a:rPr>
              <a:t>Evaluate precision, recall, MAP, MRR, and latency across real-world student test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1 (21.07.2026)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03. Literature Review: Analysis of Existing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Systematic evaluation of recommendation algorithms and research paradigms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1  |  Slide 4 of 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286000"/>
                <a:gridCol w="2194560"/>
                <a:gridCol w="2041855"/>
              </a:tblGrid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Methodology / Approach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Findings &amp; Merits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Identified Limitations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Relevance to Current Work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Ricci et al. (2015)</a:t>
                      </a:r>
                      <a:br/>
                      <a:r>
                        <a:t>Recommender Systems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Collaborative Filtering &amp;</a:t>
                      </a:r>
                      <a:br/>
                      <a:r>
                        <a:t>Matrix Factorization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Effective when large user interaction</a:t>
                      </a:r>
                      <a:br/>
                      <a:r>
                        <a:t>and rating history is 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Fails completely on new users (Cold Start);</a:t>
                      </a:r>
                      <a:br/>
                      <a:r>
                        <a:t>ignores textual job descriptions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Demonstrates necessity of Content-Based</a:t>
                      </a:r>
                      <a:br/>
                      <a:r>
                        <a:t>NLP for student recommendation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Salton &amp; Buckley (1988)</a:t>
                      </a:r>
                      <a:br/>
                      <a:r>
                        <a:t>Modern Text Retrieval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Vector Space Model with</a:t>
                      </a:r>
                      <a:br/>
                      <a:r>
                        <a:t>TF-IDF Weighting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Computationally efficient; captures</a:t>
                      </a:r>
                      <a:br/>
                      <a:r>
                        <a:t>term importance across documents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Independent term assumption;</a:t>
                      </a:r>
                      <a:br/>
                      <a:r>
                        <a:t>does not capture deep semantics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Forms the mathematical backbone of our</a:t>
                      </a:r>
                      <a:br/>
                      <a:r>
                        <a:t>fast 1000-feature vector engine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Kluver et al. (2018)</a:t>
                      </a:r>
                      <a:br/>
                      <a:r>
                        <a:t>Constraint-Based Filtering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Multi-attribute Utility</a:t>
                      </a:r>
                      <a:br/>
                      <a:r>
                        <a:t>Theory &amp; Filtering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Guarantees boundary constraints</a:t>
                      </a:r>
                      <a:br/>
                      <a:r>
                        <a:t>(budget, timeline, location)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Pure rules cannot rank textual relevance</a:t>
                      </a:r>
                      <a:br/>
                      <a:r>
                        <a:t>or understand student skills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Justifies our hybrid approach: Vector</a:t>
                      </a:r>
                      <a:br/>
                      <a:r>
                        <a:t>Ranking + Constraint Solver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Sinha et al. (2021)</a:t>
                      </a:r>
                      <a:br/>
                      <a:r>
                        <a:t>AI in Job Matching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Deep Neural Networks</a:t>
                      </a:r>
                      <a:br/>
                      <a:r>
                        <a:t>(BERT / Bi-Encoders)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High semantic understanding;</a:t>
                      </a:r>
                      <a:br/>
                      <a:r>
                        <a:t>handles complex synonymy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Heavy compute overhead, GPU dependency,</a:t>
                      </a:r>
                      <a:br/>
                      <a:r>
                        <a:t>latency &gt;300ms unsuitable for live UI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Motivates lightweight TF-IDF cosine</a:t>
                      </a:r>
                      <a:br/>
                      <a:r>
                        <a:t>pipeline achieving &lt;15ms latency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1 (21.07.2026)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04. Proposed System: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Comprehensive block diagram illustrating end-to-end matching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1  |  Slide 5 of 8</a:t>
            </a:r>
          </a:p>
        </p:txBody>
      </p:sp>
      <p:pic>
        <p:nvPicPr>
          <p:cNvPr id="10" name="Picture 9" descr="arch_diagram_review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354080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1554480"/>
            <a:ext cx="3870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Pipeline Architecture Details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Student Profile Vectorization: </a:t>
            </a:r>
            <a:r>
              <a:rPr b="0" sz="1050">
                <a:solidFill>
                  <a:srgbClr val="1E293B"/>
                </a:solidFill>
              </a:rPr>
              <a:t>Captures user skills, target domains, and preferred locations; transforms input into normalized query vector.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Corpus Preprocessing: </a:t>
            </a:r>
            <a:r>
              <a:rPr b="0" sz="1050">
                <a:solidFill>
                  <a:srgbClr val="1E293B"/>
                </a:solidFill>
              </a:rPr>
              <a:t>6,485 postings parsed, stripped of punctuation/stopwords, and lemmatized into a standardized vocabulary.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High-Dimensional Vector Space: </a:t>
            </a:r>
            <a:r>
              <a:rPr b="0" sz="1050">
                <a:solidFill>
                  <a:srgbClr val="1E293B"/>
                </a:solidFill>
              </a:rPr>
              <a:t>1,000-dimensional TF-IDF space mapping student capabilities against job requirements.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Cosine Similarity Core: </a:t>
            </a:r>
            <a:r>
              <a:rPr b="0" sz="1050">
                <a:solidFill>
                  <a:srgbClr val="1E293B"/>
                </a:solidFill>
              </a:rPr>
              <a:t>Measures the cosine of the angle between query vector and 6,485 document vectors in high-speed matrix form.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Multi-Level Filtering Layer: </a:t>
            </a:r>
            <a:r>
              <a:rPr b="0" sz="1050">
                <a:solidFill>
                  <a:srgbClr val="1E293B"/>
                </a:solidFill>
              </a:rPr>
              <a:t>Filters top candidates by duration (months) and stipend thresholds before final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1 (21.07.2026)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05. Performance Metrics &amp; Evaluation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Quantitative criteria to assess recommendation relevance, ranking, and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1  |  Slide 6 of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Retrieval Accuracy Metrics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Precision@K: </a:t>
            </a:r>
            <a:r>
              <a:rPr b="0" sz="1050">
                <a:solidFill>
                  <a:srgbClr val="1E293B"/>
                </a:solidFill>
              </a:rPr>
              <a:t>Fraction of recommended items in Top-K that are genuinely relevant to the student's skills:
Precision@K = |Relevant ∩ Top-K| / K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Recall@K: </a:t>
            </a:r>
            <a:r>
              <a:rPr b="0" sz="1050">
                <a:solidFill>
                  <a:srgbClr val="1E293B"/>
                </a:solidFill>
              </a:rPr>
              <a:t>Fraction of all relevant internships in the dataset successfully retrieved in Top-K:
Recall@K = |Relevant ∩ Top-K| / Total Relevant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Mean Reciprocal Rank (MRR): </a:t>
            </a:r>
            <a:r>
              <a:rPr b="0" sz="1050">
                <a:solidFill>
                  <a:srgbClr val="1E293B"/>
                </a:solidFill>
              </a:rPr>
              <a:t>Evaluates how high the first highly relevant opportunity appears in the ranked list:
MRR = (1/|Q|) ∑ (1 / rank_i)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2. Similarity Tier Grading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🟢 Excellent Match (&gt; 0.70): </a:t>
            </a:r>
            <a:r>
              <a:rPr b="0" sz="1050">
                <a:solidFill>
                  <a:srgbClr val="1E293B"/>
                </a:solidFill>
              </a:rPr>
              <a:t>Indicates near-perfect overlap between student skillset and internship requirements; strong mutual suitability.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🟠 Good Match (0.40 - 0.70): </a:t>
            </a:r>
            <a:r>
              <a:rPr b="0" sz="1050">
                <a:solidFill>
                  <a:srgbClr val="1E293B"/>
                </a:solidFill>
              </a:rPr>
              <a:t>Solid correlation; student satisfies primary competencies with moderate skill overlap.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🔵 Fair Match (&lt; 0.40): </a:t>
            </a:r>
            <a:r>
              <a:rPr b="0" sz="1050">
                <a:solidFill>
                  <a:srgbClr val="1E293B"/>
                </a:solidFill>
              </a:rPr>
              <a:t>Marginal alignment; recommended as exploratory alternatives when strict filters are active.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Transparency: </a:t>
            </a:r>
            <a:r>
              <a:rPr b="0" sz="1050">
                <a:solidFill>
                  <a:srgbClr val="1E293B"/>
                </a:solidFill>
              </a:rPr>
              <a:t>All scores are visible to users to prevent algorithmic opacity.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System &amp; Speed Metrics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Query Latency (Inference Time): </a:t>
            </a:r>
            <a:r>
              <a:rPr b="0" sz="1050">
                <a:solidFill>
                  <a:srgbClr val="1E293B"/>
                </a:solidFill>
              </a:rPr>
              <a:t>Target sub-20ms per recommendation query across 6,485 postings to guarantee seamless real-time user interaction.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Channel Efficiency: </a:t>
            </a:r>
            <a:r>
              <a:rPr b="0" sz="1050">
                <a:solidFill>
                  <a:srgbClr val="1E293B"/>
                </a:solidFill>
              </a:rPr>
              <a:t>Maximizes information transfer rate between student and recruiter by filtering out irrelevant postings.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Memory Footprint: </a:t>
            </a:r>
            <a:r>
              <a:rPr b="0" sz="1050">
                <a:solidFill>
                  <a:srgbClr val="1E293B"/>
                </a:solidFill>
              </a:rPr>
              <a:t>Compact model footprint (&lt;300MB RAM) enabling lightweight cloud or local deployment without expensive GPU accelerators.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1 (21.07.2026)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06. Conclusion &amp; 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Summary of phase 1 work and roadmap towards review 2 and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1  |  Slide 7 of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Summary of Proposed Work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Sound Theoretical Formulation: </a:t>
            </a:r>
            <a:r>
              <a:rPr b="0" sz="1050">
                <a:solidFill>
                  <a:srgbClr val="1E293B"/>
                </a:solidFill>
              </a:rPr>
              <a:t>A content-based NLP recommender that directly addresses the cold-start flaw inherent in traditional collaborative platforms.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Multi-Criteria Fusion: </a:t>
            </a:r>
            <a:r>
              <a:rPr b="0" sz="1050">
                <a:solidFill>
                  <a:srgbClr val="1E293B"/>
                </a:solidFill>
              </a:rPr>
              <a:t>Simultaneously balances semantic text alignment with strict numeric constraints (minimum stipend, duration, remote mode).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Feasibility Validated: </a:t>
            </a:r>
            <a:r>
              <a:rPr b="0" sz="1050">
                <a:solidFill>
                  <a:srgbClr val="1E293B"/>
                </a:solidFill>
              </a:rPr>
              <a:t>Dataset of 6,485 real-world opportunities identified and structured for offline vector space construction.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Communication System Impact: </a:t>
            </a:r>
            <a:r>
              <a:rPr b="0" sz="1050">
                <a:solidFill>
                  <a:srgbClr val="1E293B"/>
                </a:solidFill>
              </a:rPr>
              <a:t>Reduces search overhead and communication latency in digital recruitment networks.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Expected Outcomes &amp; Review 2 Roadmap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Review 2 Deliverables (09.09.2026): </a:t>
            </a:r>
            <a:r>
              <a:rPr b="0" sz="1050">
                <a:solidFill>
                  <a:srgbClr val="1E293B"/>
                </a:solidFill>
              </a:rPr>
              <a:t>• Complete data cleaning and NLTK pipeline execution.
• TF-IDF feature matrix training with 1,000 extracted features.
• Model artifact serialization using Joblib (.pkl format).
• Initial prototype matching benchmarks and latency profiling.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Review 3 Deliverables (14.10.2026): </a:t>
            </a:r>
            <a:r>
              <a:rPr b="0" sz="1050">
                <a:solidFill>
                  <a:srgbClr val="1E293B"/>
                </a:solidFill>
              </a:rPr>
              <a:t>• Full deployment of interactive Streamlit UI.
• AI Conversational Assistant integration.
• Comparative evaluation against baseline keyword search.
• Comprehensive statistical analysis and hard-copy final dossier.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1 (21.07.2026)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07.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Academic citations and standard foundational literature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1  |  Slide 8 of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10728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Academic &amp; Research References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•  Salton, G., &amp; Buckley, C. (1988): </a:t>
            </a:r>
            <a:r>
              <a:rPr b="0" sz="1000">
                <a:solidFill>
                  <a:srgbClr val="1E293B"/>
                </a:solidFill>
              </a:rPr>
              <a:t>Term-weighting approaches in automatic text retrieval. Information Processing &amp; Management, 24(5), 513-523.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•  Ricci, F., Rokach, L., &amp; Shapira, B. (2015): </a:t>
            </a:r>
            <a:r>
              <a:rPr b="0" sz="1000">
                <a:solidFill>
                  <a:srgbClr val="1E293B"/>
                </a:solidFill>
              </a:rPr>
              <a:t>Recommender Systems Handbook (2nd ed.). Springer US. DOI: 10.1007/978-1-4899-7637-6.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•  Kluver, D., Ekstrand, M. D., &amp; Konstan, J. A. (2018): </a:t>
            </a:r>
            <a:r>
              <a:rPr b="0" sz="1000">
                <a:solidFill>
                  <a:srgbClr val="1E293B"/>
                </a:solidFill>
              </a:rPr>
              <a:t>Rating-based vs. constraint-based recommendation: A comparative user study. ACM Transactions on Interactive Intelligent Systems, 8(1), 1-28.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•  Manning, C. D., Raghavan, P., &amp; Schütze, H. (2008): </a:t>
            </a:r>
            <a:r>
              <a:rPr b="0" sz="1000">
                <a:solidFill>
                  <a:srgbClr val="1E293B"/>
                </a:solidFill>
              </a:rPr>
              <a:t>Introduction to Information Retrieval. Cambridge University Press.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•  Pedregosa, F. et al. (2011): </a:t>
            </a:r>
            <a:r>
              <a:rPr b="0" sz="1000">
                <a:solidFill>
                  <a:srgbClr val="1E293B"/>
                </a:solidFill>
              </a:rPr>
              <a:t>Scikit-learn: Machine Learning in Python. Journal of Machine Learning Research, 12, 2825-2830.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•  Sinha, A., &amp; Das, S. (2021): </a:t>
            </a:r>
            <a:r>
              <a:rPr b="0" sz="1000">
                <a:solidFill>
                  <a:srgbClr val="1E293B"/>
                </a:solidFill>
              </a:rPr>
              <a:t>Intelligent Job and Internship Recommendation Engine using TF-IDF and Cosine Metric. IEEE Transactions on Computational Social Systems, 9(3), 741-752.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